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1"/>
    <p:restoredTop sz="94668"/>
  </p:normalViewPr>
  <p:slideViewPr>
    <p:cSldViewPr snapToGrid="0" snapToObjects="1">
      <p:cViewPr varScale="1">
        <p:scale>
          <a:sx n="126" d="100"/>
          <a:sy n="126" d="100"/>
        </p:scale>
        <p:origin x="224" y="78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6/7/26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6/7/26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6/7/26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6/7/26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6/7/26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6/7/26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6/7/26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image" Target="../media/image6.jp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8.jp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g"/><Relationship Id="rId2" Type="http://schemas.openxmlformats.org/officeDocument/2006/relationships/image" Target="../media/image9.jp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1.jpg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9167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1F1F1F"/>
                </a:solidFill>
                <a:latin typeface="Times New Roman"/>
              </a:rPr>
              <a:t>МИНОБРНАУКИ РОССИИ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40080"/>
            <a:ext cx="10543032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1F1F1F"/>
                </a:solidFill>
                <a:latin typeface="Times New Roman"/>
              </a:rPr>
              <a:t>федеральное государственное автономное образовательное учреждение высшего образования «Омский государственный университет им. Ф.М. Достоевского»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109167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555555"/>
                </a:solidFill>
                <a:latin typeface="Times New Roman"/>
              </a:rPr>
              <a:t>Кафедра компьютерной математики и программного обеспечения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377440"/>
            <a:ext cx="10725912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1F1F1F"/>
                </a:solidFill>
                <a:latin typeface="Times New Roman"/>
              </a:rPr>
              <a:t>РАЗРАБОТКА КРОССПЛАТФОРМЕННОГО ПРИЛОЖЕНИЯ ДЛЯ ПРОГНОЗА ПОКАЗАТЕЛЕЙ INBODY С АДАПТАЦИЕЙ ТРЕНИРОВОК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840480"/>
            <a:ext cx="1109167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1F1F1F"/>
                </a:solidFill>
                <a:latin typeface="Times New Roman"/>
              </a:rPr>
              <a:t>Выпускная квалификационная работа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160520"/>
            <a:ext cx="1109167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555555"/>
                </a:solidFill>
                <a:latin typeface="Times New Roman"/>
              </a:rPr>
              <a:t>по направлению 01.04.02 — «Прикладная математика и информатика»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0" y="5120640"/>
            <a:ext cx="61264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>
                <a:solidFill>
                  <a:srgbClr val="555555"/>
                </a:solidFill>
                <a:latin typeface="Times New Roman"/>
              </a:rPr>
              <a:t>Научный руководитель: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0" y="5394960"/>
            <a:ext cx="6583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>
                <a:solidFill>
                  <a:srgbClr val="1F1F1F"/>
                </a:solidFill>
                <a:latin typeface="Times New Roman"/>
              </a:rPr>
              <a:t>Агафонов А. Л., доцент, каф. компьютерной математики и программного обеспечения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0" y="5897880"/>
            <a:ext cx="61264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>
                <a:solidFill>
                  <a:srgbClr val="555555"/>
                </a:solidFill>
                <a:latin typeface="Times New Roman"/>
              </a:rPr>
              <a:t>Студентка гр. МММ-401-О-03: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0" y="6153912"/>
            <a:ext cx="61264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>
                <a:solidFill>
                  <a:srgbClr val="1F1F1F"/>
                </a:solidFill>
                <a:latin typeface="Times New Roman"/>
              </a:rPr>
              <a:t>Лапова Мария Сергеевна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446520"/>
            <a:ext cx="1109167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555555"/>
                </a:solidFill>
                <a:latin typeface="Times New Roman"/>
              </a:rPr>
              <a:t>Омск,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743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1F1F"/>
                </a:solidFill>
                <a:latin typeface="Times New Roman"/>
              </a:rPr>
              <a:t>Актуальность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05840"/>
            <a:ext cx="10972800" cy="5394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1800"/>
              </a:spcAft>
            </a:pPr>
            <a:r>
              <a:rPr sz="2600">
                <a:solidFill>
                  <a:srgbClr val="1F1F1F"/>
                </a:solidFill>
                <a:latin typeface="Times New Roman"/>
              </a:rPr>
              <a:t>•  Рост популярности фитнес-приложений</a:t>
            </a:r>
          </a:p>
          <a:p>
            <a:pPr algn="l">
              <a:lnSpc>
                <a:spcPct val="115000"/>
              </a:lnSpc>
              <a:spcAft>
                <a:spcPts val="1800"/>
              </a:spcAft>
            </a:pPr>
            <a:r>
              <a:rPr sz="2600">
                <a:solidFill>
                  <a:srgbClr val="1F1F1F"/>
                </a:solidFill>
                <a:latin typeface="Times New Roman"/>
              </a:rPr>
              <a:t>•  Отсутствие персонализированного прогноза</a:t>
            </a:r>
          </a:p>
          <a:p>
            <a:pPr algn="l">
              <a:lnSpc>
                <a:spcPct val="115000"/>
              </a:lnSpc>
              <a:spcAft>
                <a:spcPts val="1800"/>
              </a:spcAft>
            </a:pPr>
            <a:r>
              <a:rPr sz="2600">
                <a:solidFill>
                  <a:srgbClr val="1F1F1F"/>
                </a:solidFill>
                <a:latin typeface="Times New Roman"/>
              </a:rPr>
              <a:t>•  Нет адаптации плана тренировок</a:t>
            </a:r>
          </a:p>
          <a:p>
            <a:pPr algn="l">
              <a:lnSpc>
                <a:spcPct val="115000"/>
              </a:lnSpc>
              <a:spcAft>
                <a:spcPts val="1800"/>
              </a:spcAft>
            </a:pPr>
            <a:r>
              <a:rPr sz="2600">
                <a:solidFill>
                  <a:srgbClr val="1F1F1F"/>
                </a:solidFill>
                <a:latin typeface="Times New Roman"/>
              </a:rPr>
              <a:t>•  InBody используется без аналитики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32720" y="626364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2000" b="0">
                <a:solidFill>
                  <a:srgbClr val="555555"/>
                </a:solidFill>
                <a:latin typeface="Times New Roman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743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1F1F"/>
                </a:solidFill>
                <a:latin typeface="Times New Roman"/>
              </a:rPr>
              <a:t>Цель и задачи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0584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F1F1F"/>
                </a:solidFill>
                <a:latin typeface="Times New Roman"/>
              </a:rPr>
              <a:t>Цель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>
                <a:solidFill>
                  <a:srgbClr val="1F1F1F"/>
                </a:solidFill>
                <a:latin typeface="Times New Roman"/>
              </a:rPr>
              <a:t>Разработка приложения Portal для прогноза состава тела и адаптации тренировочного плана.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65176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F1F1F"/>
                </a:solidFill>
                <a:latin typeface="Times New Roman"/>
              </a:rPr>
              <a:t>Задачи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017520"/>
            <a:ext cx="10972800" cy="3383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1800"/>
              </a:spcAft>
            </a:pPr>
            <a:r>
              <a:rPr sz="2400">
                <a:solidFill>
                  <a:srgbClr val="1F1F1F"/>
                </a:solidFill>
                <a:latin typeface="Times New Roman"/>
              </a:rPr>
              <a:t>•  Анализ предметной области</a:t>
            </a:r>
          </a:p>
          <a:p>
            <a:pPr algn="l">
              <a:lnSpc>
                <a:spcPct val="115000"/>
              </a:lnSpc>
              <a:spcAft>
                <a:spcPts val="1800"/>
              </a:spcAft>
            </a:pPr>
            <a:r>
              <a:rPr sz="2400">
                <a:solidFill>
                  <a:srgbClr val="1F1F1F"/>
                </a:solidFill>
                <a:latin typeface="Times New Roman"/>
              </a:rPr>
              <a:t>•  Разработка ML-модели прогноза</a:t>
            </a:r>
          </a:p>
          <a:p>
            <a:pPr algn="l">
              <a:lnSpc>
                <a:spcPct val="115000"/>
              </a:lnSpc>
              <a:spcAft>
                <a:spcPts val="1800"/>
              </a:spcAft>
            </a:pPr>
            <a:r>
              <a:rPr sz="2400">
                <a:solidFill>
                  <a:srgbClr val="1F1F1F"/>
                </a:solidFill>
                <a:latin typeface="Times New Roman"/>
              </a:rPr>
              <a:t>•  Создание REST API</a:t>
            </a:r>
          </a:p>
          <a:p>
            <a:pPr algn="l">
              <a:lnSpc>
                <a:spcPct val="115000"/>
              </a:lnSpc>
              <a:spcAft>
                <a:spcPts val="1800"/>
              </a:spcAft>
            </a:pPr>
            <a:r>
              <a:rPr sz="2400">
                <a:solidFill>
                  <a:srgbClr val="1F1F1F"/>
                </a:solidFill>
                <a:latin typeface="Times New Roman"/>
              </a:rPr>
              <a:t>•  Реализация PWA-приложения</a:t>
            </a:r>
          </a:p>
          <a:p>
            <a:pPr algn="l">
              <a:lnSpc>
                <a:spcPct val="115000"/>
              </a:lnSpc>
              <a:spcAft>
                <a:spcPts val="1800"/>
              </a:spcAft>
            </a:pPr>
            <a:r>
              <a:rPr sz="2400">
                <a:solidFill>
                  <a:srgbClr val="1F1F1F"/>
                </a:solidFill>
                <a:latin typeface="Times New Roman"/>
              </a:rPr>
              <a:t>•  Тестирование системы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32720" y="626364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2000" b="0">
                <a:solidFill>
                  <a:srgbClr val="555555"/>
                </a:solidFill>
                <a:latin typeface="Times New Roman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743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1F1F"/>
                </a:solidFill>
                <a:latin typeface="Times New Roman"/>
              </a:rPr>
              <a:t>Разделение работ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40967" y="2057400"/>
            <a:ext cx="9509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0">
                <a:solidFill>
                  <a:srgbClr val="1F1F1F"/>
                </a:solidFill>
                <a:latin typeface="Times New Roman"/>
              </a:rPr>
              <a:t>Таблица 1. Разделение работ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340967" y="2514600"/>
          <a:ext cx="9509760" cy="2926080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2743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7665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94360"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FFFFFF"/>
                          </a:solidFill>
                          <a:latin typeface="Times New Roman"/>
                        </a:rPr>
                        <a:t>Студент</a:t>
                      </a:r>
                    </a:p>
                  </a:txBody>
                  <a:tcPr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FFFFFF"/>
                          </a:solidFill>
                          <a:latin typeface="Times New Roman"/>
                        </a:rPr>
                        <a:t>Что разрабатывал</a:t>
                      </a:r>
                    </a:p>
                  </a:txBody>
                  <a:tcPr anchor="ctr">
                    <a:solidFill>
                      <a:srgbClr val="0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77240"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1F1F1F"/>
                          </a:solidFill>
                          <a:latin typeface="Times New Roman"/>
                        </a:rPr>
                        <a:t>Лапова М. С.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1F1F1F"/>
                          </a:solidFill>
                          <a:latin typeface="Times New Roman"/>
                        </a:rPr>
                        <a:t>Прогноз состава тела (InBody), доверительные интервалы, адаптация плана, синтез данных, импорт PDF InBody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77240"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1F1F1F"/>
                          </a:solidFill>
                          <a:latin typeface="Times New Roman"/>
                        </a:rPr>
                        <a:t>Ощепков Е. С.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1F1F1F"/>
                          </a:solidFill>
                          <a:latin typeface="Times New Roman"/>
                        </a:rPr>
                        <a:t>Генератор плана тренировок, каталог упражнений, учёт тренировок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77240"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1F1F1F"/>
                          </a:solidFill>
                          <a:latin typeface="Times New Roman"/>
                        </a:rPr>
                        <a:t>Совместно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1F1F1F"/>
                          </a:solidFill>
                          <a:latin typeface="Times New Roman"/>
                        </a:rPr>
                        <a:t>Концепция, архитектура, REST API, PWA-клиент, база данных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0332720" y="626364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2000" b="0">
                <a:solidFill>
                  <a:srgbClr val="555555"/>
                </a:solidFill>
                <a:latin typeface="Times New Roman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743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1F1F"/>
                </a:solidFill>
                <a:latin typeface="Times New Roman"/>
              </a:rPr>
              <a:t>Сравнение с существующими решениями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38047" y="13716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0">
                <a:solidFill>
                  <a:srgbClr val="1F1F1F"/>
                </a:solidFill>
                <a:latin typeface="Times New Roman"/>
              </a:rPr>
              <a:t>Таблица 2. Сравнение с существующими решениями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838047" y="1828800"/>
          <a:ext cx="10515600" cy="4480560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26289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94360"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FFFFFF"/>
                          </a:solidFill>
                          <a:latin typeface="Times New Roman"/>
                        </a:rPr>
                        <a:t>Приложение</a:t>
                      </a:r>
                    </a:p>
                  </a:txBody>
                  <a:tcPr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FFFFFF"/>
                          </a:solidFill>
                          <a:latin typeface="Times New Roman"/>
                        </a:rPr>
                        <a:t>Прогноз</a:t>
                      </a:r>
                    </a:p>
                  </a:txBody>
                  <a:tcPr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FFFFFF"/>
                          </a:solidFill>
                          <a:latin typeface="Times New Roman"/>
                        </a:rPr>
                        <a:t>InBody</a:t>
                      </a:r>
                    </a:p>
                  </a:txBody>
                  <a:tcPr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FFFFFF"/>
                          </a:solidFill>
                          <a:latin typeface="Times New Roman"/>
                        </a:rPr>
                        <a:t>Адаптация</a:t>
                      </a:r>
                    </a:p>
                  </a:txBody>
                  <a:tcPr anchor="ctr">
                    <a:solidFill>
                      <a:srgbClr val="0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77240"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1F1F1F"/>
                          </a:solidFill>
                          <a:latin typeface="Times New Roman"/>
                        </a:rPr>
                        <a:t>Hevy, Strong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1F1F1F"/>
                          </a:solidFill>
                          <a:latin typeface="Times New Roman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1F1F1F"/>
                          </a:solidFill>
                          <a:latin typeface="Times New Roman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1F1F1F"/>
                          </a:solidFill>
                          <a:latin typeface="Times New Roman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77240"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1F1F1F"/>
                          </a:solidFill>
                          <a:latin typeface="Times New Roman"/>
                        </a:rPr>
                        <a:t>Fitbod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1F1F1F"/>
                          </a:solidFill>
                          <a:latin typeface="Times New Roman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1F1F1F"/>
                          </a:solidFill>
                          <a:latin typeface="Times New Roman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1F1F1F"/>
                          </a:solidFill>
                          <a:latin typeface="Times New Roman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77240"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1F1F1F"/>
                          </a:solidFill>
                          <a:latin typeface="Times New Roman"/>
                        </a:rPr>
                        <a:t>MacroFactor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1F1F1F"/>
                          </a:solidFill>
                          <a:latin typeface="Times New Roman"/>
                        </a:rPr>
                        <a:t>Только вес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1F1F1F"/>
                          </a:solidFill>
                          <a:latin typeface="Times New Roman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1F1F1F"/>
                          </a:solidFill>
                          <a:latin typeface="Times New Roman"/>
                        </a:rPr>
                        <a:t>Частично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77240"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1F1F1F"/>
                          </a:solidFill>
                          <a:latin typeface="Times New Roman"/>
                        </a:rPr>
                        <a:t>DDX Fitness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1F1F1F"/>
                          </a:solidFill>
                          <a:latin typeface="Times New Roman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1F1F1F"/>
                          </a:solidFill>
                          <a:latin typeface="Times New Roman"/>
                        </a:rPr>
                        <a:t>Замер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1F1F1F"/>
                          </a:solidFill>
                          <a:latin typeface="Times New Roman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777240">
                <a:tc>
                  <a:txBody>
                    <a:bodyPr/>
                    <a:lstStyle/>
                    <a:p>
                      <a:pPr algn="l"/>
                      <a:r>
                        <a:rPr sz="1600" b="1">
                          <a:solidFill>
                            <a:srgbClr val="FFFFFF"/>
                          </a:solidFill>
                          <a:latin typeface="Times New Roman"/>
                        </a:rPr>
                        <a:t>Portal</a:t>
                      </a:r>
                    </a:p>
                  </a:txBody>
                  <a:tcPr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Times New Roman"/>
                        </a:rPr>
                        <a:t>+</a:t>
                      </a:r>
                    </a:p>
                  </a:txBody>
                  <a:tcPr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Times New Roman"/>
                        </a:rPr>
                        <a:t>+</a:t>
                      </a:r>
                    </a:p>
                  </a:txBody>
                  <a:tcPr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Times New Roman"/>
                        </a:rPr>
                        <a:t>+</a:t>
                      </a:r>
                    </a:p>
                  </a:txBody>
                  <a:tcPr anchor="ctr">
                    <a:solidFill>
                      <a:srgbClr val="0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0332720" y="626364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2000" b="0">
                <a:solidFill>
                  <a:srgbClr val="555555"/>
                </a:solidFill>
                <a:latin typeface="Times New Roman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743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1F1F"/>
                </a:solidFill>
                <a:latin typeface="Times New Roman"/>
              </a:rPr>
              <a:t>Архитектура системы</a:t>
            </a:r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91380" y="960120"/>
            <a:ext cx="9608935" cy="47548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8521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555555"/>
                </a:solidFill>
                <a:latin typeface="Times New Roman"/>
              </a:rPr>
              <a:t>Рис. 1. Архитектура приложения Portal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32720" y="626364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2000" b="0">
                <a:solidFill>
                  <a:srgbClr val="555555"/>
                </a:solidFill>
                <a:latin typeface="Times New Roman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743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1F1F"/>
                </a:solidFill>
                <a:latin typeface="Times New Roman"/>
              </a:rPr>
              <a:t>Схема базы данных</a:t>
            </a:r>
          </a:p>
        </p:txBody>
      </p:sp>
      <p:pic>
        <p:nvPicPr>
          <p:cNvPr id="3" name="Picture 2" descr="er-diagram-mar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69883" y="1143000"/>
            <a:ext cx="7251928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8521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555555"/>
                </a:solidFill>
                <a:latin typeface="Times New Roman"/>
              </a:rPr>
              <a:t>Рис. 2. Сущности и связи подсистемы прогноза и адаптации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32720" y="626364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2000" b="0">
                <a:solidFill>
                  <a:srgbClr val="555555"/>
                </a:solidFill>
                <a:latin typeface="Times New Roman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743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1F1F"/>
                </a:solidFill>
                <a:latin typeface="Times New Roman"/>
              </a:rPr>
              <a:t>Основные функции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05840"/>
            <a:ext cx="10972800" cy="5394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1800"/>
              </a:spcAft>
            </a:pPr>
            <a:r>
              <a:rPr sz="2600">
                <a:solidFill>
                  <a:srgbClr val="1F1F1F"/>
                </a:solidFill>
                <a:latin typeface="Times New Roman"/>
              </a:rPr>
              <a:t>•  Прогноз состава тела (вес, жир, мышцы)</a:t>
            </a:r>
          </a:p>
          <a:p>
            <a:pPr algn="l">
              <a:lnSpc>
                <a:spcPct val="115000"/>
              </a:lnSpc>
              <a:spcAft>
                <a:spcPts val="1800"/>
              </a:spcAft>
            </a:pPr>
            <a:r>
              <a:rPr sz="2600">
                <a:solidFill>
                  <a:srgbClr val="1F1F1F"/>
                </a:solidFill>
                <a:latin typeface="Times New Roman"/>
              </a:rPr>
              <a:t>•  Генерация плана тренировок на 4 недели</a:t>
            </a:r>
          </a:p>
          <a:p>
            <a:pPr algn="l">
              <a:lnSpc>
                <a:spcPct val="115000"/>
              </a:lnSpc>
              <a:spcAft>
                <a:spcPts val="1800"/>
              </a:spcAft>
            </a:pPr>
            <a:r>
              <a:rPr sz="2600">
                <a:solidFill>
                  <a:srgbClr val="1F1F1F"/>
                </a:solidFill>
                <a:latin typeface="Times New Roman"/>
              </a:rPr>
              <a:t>•  Импорт PDF-отчётов InBody</a:t>
            </a:r>
          </a:p>
          <a:p>
            <a:pPr algn="l">
              <a:lnSpc>
                <a:spcPct val="115000"/>
              </a:lnSpc>
              <a:spcAft>
                <a:spcPts val="1800"/>
              </a:spcAft>
            </a:pPr>
            <a:r>
              <a:rPr sz="2600">
                <a:solidFill>
                  <a:srgbClr val="1F1F1F"/>
                </a:solidFill>
                <a:latin typeface="Times New Roman"/>
              </a:rPr>
              <a:t>•  Рекомендации по нормам ВОЗ</a:t>
            </a:r>
          </a:p>
          <a:p>
            <a:pPr algn="l">
              <a:lnSpc>
                <a:spcPct val="115000"/>
              </a:lnSpc>
              <a:spcAft>
                <a:spcPts val="1800"/>
              </a:spcAft>
            </a:pPr>
            <a:r>
              <a:rPr sz="2600">
                <a:solidFill>
                  <a:srgbClr val="1F1F1F"/>
                </a:solidFill>
                <a:latin typeface="Times New Roman"/>
              </a:rPr>
              <a:t>•  Автоадаптация плана при изменениях профиля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32720" y="626364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2000" b="0">
                <a:solidFill>
                  <a:srgbClr val="555555"/>
                </a:solidFill>
                <a:latin typeface="Times New Roman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743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1F1F"/>
                </a:solidFill>
                <a:latin typeface="Times New Roman"/>
              </a:rPr>
              <a:t>ML-модель прогноза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0584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>
                <a:solidFill>
                  <a:srgbClr val="1F1F1F"/>
                </a:solidFill>
                <a:latin typeface="Times New Roman"/>
              </a:rPr>
              <a:t>Прогнозируются: вес, процент жира, мышечная масса на горизонтах 1, 2, 4 недели.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011680"/>
            <a:ext cx="10972800" cy="4389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1800"/>
              </a:spcAft>
            </a:pPr>
            <a:r>
              <a:rPr sz="2600">
                <a:solidFill>
                  <a:srgbClr val="1F1F1F"/>
                </a:solidFill>
                <a:latin typeface="Times New Roman"/>
              </a:rPr>
              <a:t>•  Ridge Regression — линейная базовая модель</a:t>
            </a:r>
          </a:p>
          <a:p>
            <a:pPr algn="l">
              <a:lnSpc>
                <a:spcPct val="115000"/>
              </a:lnSpc>
              <a:spcAft>
                <a:spcPts val="1800"/>
              </a:spcAft>
            </a:pPr>
            <a:r>
              <a:rPr sz="2600">
                <a:solidFill>
                  <a:srgbClr val="1F1F1F"/>
                </a:solidFill>
                <a:latin typeface="Times New Roman"/>
              </a:rPr>
              <a:t>•  LightGBM — градиентный бустинг (основная модель)</a:t>
            </a:r>
          </a:p>
          <a:p>
            <a:pPr algn="l">
              <a:lnSpc>
                <a:spcPct val="115000"/>
              </a:lnSpc>
              <a:spcAft>
                <a:spcPts val="1800"/>
              </a:spcAft>
            </a:pPr>
            <a:r>
              <a:rPr sz="2600">
                <a:solidFill>
                  <a:srgbClr val="1F1F1F"/>
                </a:solidFill>
                <a:latin typeface="Times New Roman"/>
              </a:rPr>
              <a:t>•  Нейросеть (PyTorch) — альтернативная архитектура</a:t>
            </a:r>
          </a:p>
          <a:p>
            <a:pPr algn="l">
              <a:lnSpc>
                <a:spcPct val="115000"/>
              </a:lnSpc>
              <a:spcAft>
                <a:spcPts val="1800"/>
              </a:spcAft>
            </a:pPr>
            <a:r>
              <a:rPr sz="2600">
                <a:solidFill>
                  <a:srgbClr val="1F1F1F"/>
                </a:solidFill>
                <a:latin typeface="Times New Roman"/>
              </a:rPr>
              <a:t>•  Квантильная регрессия для доверительных интервалов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32720" y="626364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2000" b="0">
                <a:solidFill>
                  <a:srgbClr val="555555"/>
                </a:solidFill>
                <a:latin typeface="Times New Roman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743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1F1F"/>
                </a:solidFill>
                <a:latin typeface="Times New Roman"/>
              </a:rPr>
              <a:t>Как работает прогноз</a:t>
            </a:r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647" y="2238743"/>
            <a:ext cx="10058400" cy="219763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8521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555555"/>
                </a:solidFill>
                <a:latin typeface="Times New Roman"/>
              </a:rPr>
              <a:t>Рис. 3. Пайплайн прогноза InBody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32720" y="626364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2000" b="0">
                <a:solidFill>
                  <a:srgbClr val="555555"/>
                </a:solidFill>
                <a:latin typeface="Times New Roman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743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1F1F"/>
                </a:solidFill>
                <a:latin typeface="Times New Roman"/>
              </a:rPr>
              <a:t>Последовательность обработки запроса</a:t>
            </a:r>
          </a:p>
        </p:txBody>
      </p:sp>
      <p:pic>
        <p:nvPicPr>
          <p:cNvPr id="3" name="Picture 2" descr="uml-sequence-mar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847" y="1143000"/>
            <a:ext cx="10668000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8521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555555"/>
                </a:solidFill>
                <a:latin typeface="Times New Roman"/>
              </a:rPr>
              <a:t>Рис. 4. Диаграмма последовательности: запрос прогноза InBody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32720" y="626364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2000" b="0">
                <a:solidFill>
                  <a:srgbClr val="555555"/>
                </a:solidFill>
                <a:latin typeface="Times New Roman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743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1F1F"/>
                </a:solidFill>
                <a:latin typeface="Times New Roman"/>
              </a:rPr>
              <a:t>Доверительные интервалы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05840"/>
            <a:ext cx="10972800" cy="5394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1800"/>
              </a:spcAft>
            </a:pPr>
            <a:r>
              <a:rPr sz="2600">
                <a:solidFill>
                  <a:srgbClr val="1F1F1F"/>
                </a:solidFill>
                <a:latin typeface="Times New Roman"/>
              </a:rPr>
              <a:t>•  Квантильная регрессия: квантили 0,1 / 0,5 / 0,9</a:t>
            </a:r>
          </a:p>
          <a:p>
            <a:pPr algn="l">
              <a:lnSpc>
                <a:spcPct val="115000"/>
              </a:lnSpc>
              <a:spcAft>
                <a:spcPts val="1800"/>
              </a:spcAft>
            </a:pPr>
            <a:r>
              <a:rPr sz="2600">
                <a:solidFill>
                  <a:srgbClr val="1F1F1F"/>
                </a:solidFill>
                <a:latin typeface="Times New Roman"/>
              </a:rPr>
              <a:t>•  Интервал 80%: факт попадает в 79% случаев</a:t>
            </a:r>
          </a:p>
          <a:p>
            <a:pPr algn="l">
              <a:lnSpc>
                <a:spcPct val="115000"/>
              </a:lnSpc>
              <a:spcAft>
                <a:spcPts val="1800"/>
              </a:spcAft>
            </a:pPr>
            <a:r>
              <a:rPr sz="2600">
                <a:solidFill>
                  <a:srgbClr val="1F1F1F"/>
                </a:solidFill>
                <a:latin typeface="Times New Roman"/>
              </a:rPr>
              <a:t>•  L(y, ŷ) = max(τ·(y−ŷ), (τ−1)·(y−ŷ))</a:t>
            </a:r>
          </a:p>
          <a:p>
            <a:pPr algn="l">
              <a:lnSpc>
                <a:spcPct val="115000"/>
              </a:lnSpc>
              <a:spcAft>
                <a:spcPts val="1800"/>
              </a:spcAft>
            </a:pPr>
            <a:r>
              <a:rPr sz="2600">
                <a:solidFill>
                  <a:srgbClr val="1F1F1F"/>
                </a:solidFill>
                <a:latin typeface="Times New Roman"/>
              </a:rPr>
              <a:t>•  9 бустеров: 3 метрики × 3 квантиля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32720" y="626364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2000" b="0">
                <a:solidFill>
                  <a:srgbClr val="555555"/>
                </a:solidFill>
                <a:latin typeface="Times New Roman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743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1F1F"/>
                </a:solidFill>
                <a:latin typeface="Times New Roman"/>
              </a:rPr>
              <a:t>Алгоритм адаптации плана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0584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>
                <a:solidFill>
                  <a:srgbClr val="1F1F1F"/>
                </a:solidFill>
                <a:latin typeface="Times New Roman"/>
              </a:rPr>
              <a:t>Триггеры обновления плана: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011680"/>
            <a:ext cx="10972800" cy="4389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1800"/>
              </a:spcAft>
            </a:pPr>
            <a:r>
              <a:rPr sz="2600">
                <a:solidFill>
                  <a:srgbClr val="1F1F1F"/>
                </a:solidFill>
                <a:latin typeface="Times New Roman"/>
              </a:rPr>
              <a:t>•  Изменение веса более чем на 2 кг</a:t>
            </a:r>
          </a:p>
          <a:p>
            <a:pPr algn="l">
              <a:lnSpc>
                <a:spcPct val="115000"/>
              </a:lnSpc>
              <a:spcAft>
                <a:spcPts val="1800"/>
              </a:spcAft>
            </a:pPr>
            <a:r>
              <a:rPr sz="2600">
                <a:solidFill>
                  <a:srgbClr val="1F1F1F"/>
                </a:solidFill>
                <a:latin typeface="Times New Roman"/>
              </a:rPr>
              <a:t>•  Изменение цели тренировок</a:t>
            </a:r>
          </a:p>
          <a:p>
            <a:pPr algn="l">
              <a:lnSpc>
                <a:spcPct val="115000"/>
              </a:lnSpc>
              <a:spcAft>
                <a:spcPts val="1800"/>
              </a:spcAft>
            </a:pPr>
            <a:r>
              <a:rPr sz="2600">
                <a:solidFill>
                  <a:srgbClr val="1F1F1F"/>
                </a:solidFill>
                <a:latin typeface="Times New Roman"/>
              </a:rPr>
              <a:t>•  Изменение частоты тренировок</a:t>
            </a:r>
          </a:p>
          <a:p>
            <a:pPr algn="l">
              <a:lnSpc>
                <a:spcPct val="115000"/>
              </a:lnSpc>
              <a:spcAft>
                <a:spcPts val="1800"/>
              </a:spcAft>
            </a:pPr>
            <a:r>
              <a:rPr sz="2600">
                <a:solidFill>
                  <a:srgbClr val="1F1F1F"/>
                </a:solidFill>
                <a:latin typeface="Times New Roman"/>
              </a:rPr>
              <a:t>•  Завершение 4-недельного цикла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32720" y="626364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2000" b="0">
                <a:solidFill>
                  <a:srgbClr val="555555"/>
                </a:solidFill>
                <a:latin typeface="Times New Roman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743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1F1F"/>
                </a:solidFill>
                <a:latin typeface="Times New Roman"/>
              </a:rPr>
              <a:t>Сравнение ошибок по моделям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38047" y="16687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0">
                <a:solidFill>
                  <a:srgbClr val="1F1F1F"/>
                </a:solidFill>
                <a:latin typeface="Times New Roman"/>
              </a:rPr>
              <a:t>Таблица 3. Сравнение ошибок по моделям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838047" y="2125980"/>
          <a:ext cx="10515600" cy="3703320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594360"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FFFFFF"/>
                          </a:solidFill>
                          <a:latin typeface="Times New Roman"/>
                        </a:rPr>
                        <a:t>Модель</a:t>
                      </a:r>
                    </a:p>
                  </a:txBody>
                  <a:tcPr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FFFFFF"/>
                          </a:solidFill>
                          <a:latin typeface="Times New Roman"/>
                        </a:rPr>
                        <a:t>MAE, кг</a:t>
                      </a:r>
                    </a:p>
                  </a:txBody>
                  <a:tcPr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FFFFFF"/>
                          </a:solidFill>
                          <a:latin typeface="Times New Roman"/>
                        </a:rPr>
                        <a:t>RMSE, кг</a:t>
                      </a:r>
                    </a:p>
                  </a:txBody>
                  <a:tcPr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FFFFFF"/>
                          </a:solidFill>
                          <a:latin typeface="Times New Roman"/>
                        </a:rPr>
                        <a:t>R²</a:t>
                      </a:r>
                    </a:p>
                  </a:txBody>
                  <a:tcPr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FFFFFF"/>
                          </a:solidFill>
                          <a:latin typeface="Times New Roman"/>
                        </a:rPr>
                        <a:t>Лучше baseline на</a:t>
                      </a:r>
                    </a:p>
                  </a:txBody>
                  <a:tcPr anchor="ctr">
                    <a:solidFill>
                      <a:srgbClr val="0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77240"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1F1F1F"/>
                          </a:solidFill>
                          <a:latin typeface="Times New Roman"/>
                        </a:rPr>
                        <a:t>Persistence (baseline)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1F1F1F"/>
                          </a:solidFill>
                          <a:latin typeface="Times New Roman"/>
                        </a:rPr>
                        <a:t>0,325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1F1F1F"/>
                          </a:solidFill>
                          <a:latin typeface="Times New Roman"/>
                        </a:rPr>
                        <a:t>0,399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1F1F1F"/>
                          </a:solidFill>
                          <a:latin typeface="Times New Roman"/>
                        </a:rPr>
                        <a:t>−0,13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1F1F1F"/>
                          </a:solidFill>
                          <a:latin typeface="Times New Roman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77240"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1F1F1F"/>
                          </a:solidFill>
                          <a:latin typeface="Times New Roman"/>
                        </a:rPr>
                        <a:t>Ridge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1F1F1F"/>
                          </a:solidFill>
                          <a:latin typeface="Times New Roman"/>
                        </a:rPr>
                        <a:t>0,168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1F1F1F"/>
                          </a:solidFill>
                          <a:latin typeface="Times New Roman"/>
                        </a:rPr>
                        <a:t>0,210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1F1F1F"/>
                          </a:solidFill>
                          <a:latin typeface="Times New Roman"/>
                        </a:rPr>
                        <a:t>0,69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1F1F1F"/>
                          </a:solidFill>
                          <a:latin typeface="Times New Roman"/>
                        </a:rPr>
                        <a:t>48 %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77240">
                <a:tc>
                  <a:txBody>
                    <a:bodyPr/>
                    <a:lstStyle/>
                    <a:p>
                      <a:pPr algn="l"/>
                      <a:r>
                        <a:rPr sz="1600" b="1">
                          <a:solidFill>
                            <a:srgbClr val="FFFFFF"/>
                          </a:solidFill>
                          <a:latin typeface="Times New Roman"/>
                        </a:rPr>
                        <a:t>LightGBM (основная)</a:t>
                      </a:r>
                    </a:p>
                  </a:txBody>
                  <a:tcPr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Times New Roman"/>
                        </a:rPr>
                        <a:t>0,156</a:t>
                      </a:r>
                    </a:p>
                  </a:txBody>
                  <a:tcPr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Times New Roman"/>
                        </a:rPr>
                        <a:t>0,196</a:t>
                      </a:r>
                    </a:p>
                  </a:txBody>
                  <a:tcPr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Times New Roman"/>
                        </a:rPr>
                        <a:t>0,73</a:t>
                      </a:r>
                    </a:p>
                  </a:txBody>
                  <a:tcPr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Times New Roman"/>
                        </a:rPr>
                        <a:t>52 %</a:t>
                      </a:r>
                    </a:p>
                  </a:txBody>
                  <a:tcPr anchor="ctr">
                    <a:solidFill>
                      <a:srgbClr val="0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77240"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1F1F1F"/>
                          </a:solidFill>
                          <a:latin typeface="Times New Roman"/>
                        </a:rPr>
                        <a:t>Нейросеть (PyTorch)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1F1F1F"/>
                          </a:solidFill>
                          <a:latin typeface="Times New Roman"/>
                        </a:rPr>
                        <a:t>0,156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1F1F1F"/>
                          </a:solidFill>
                          <a:latin typeface="Times New Roman"/>
                        </a:rPr>
                        <a:t>0,196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1F1F1F"/>
                          </a:solidFill>
                          <a:latin typeface="Times New Roman"/>
                        </a:rPr>
                        <a:t>0,73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1F1F1F"/>
                          </a:solidFill>
                          <a:latin typeface="Times New Roman"/>
                        </a:rPr>
                        <a:t>52 %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0332720" y="626364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2000" b="0">
                <a:solidFill>
                  <a:srgbClr val="555555"/>
                </a:solidFill>
                <a:latin typeface="Times New Roman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743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1F1F"/>
                </a:solidFill>
                <a:latin typeface="Times New Roman"/>
              </a:rPr>
              <a:t>Результаты: сравнение моделей</a:t>
            </a:r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92448" y="960120"/>
            <a:ext cx="9606798" cy="47548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8521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555555"/>
                </a:solidFill>
                <a:latin typeface="Times New Roman"/>
              </a:rPr>
              <a:t>Рис. 5. MAE четырёх моделей на тестовой выборке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32720" y="626364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2000" b="0">
                <a:solidFill>
                  <a:srgbClr val="555555"/>
                </a:solidFill>
                <a:latin typeface="Times New Roman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743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1F1F"/>
                </a:solidFill>
                <a:latin typeface="Times New Roman"/>
              </a:rPr>
              <a:t>Интерфейс приложения</a:t>
            </a:r>
          </a:p>
        </p:txBody>
      </p:sp>
      <p:pic>
        <p:nvPicPr>
          <p:cNvPr id="3" name="Picture 2" descr="03_hom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64767" y="1097280"/>
            <a:ext cx="2468880" cy="43891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38047" y="5623560"/>
            <a:ext cx="3322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555555"/>
                </a:solidFill>
                <a:latin typeface="Times New Roman"/>
              </a:rPr>
              <a:t>Главный экран</a:t>
            </a:r>
          </a:p>
        </p:txBody>
      </p:sp>
      <p:pic>
        <p:nvPicPr>
          <p:cNvPr id="5" name="Picture 4" descr="09_inbody_pdf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1407" y="1097280"/>
            <a:ext cx="2468880" cy="43891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434687" y="5623560"/>
            <a:ext cx="3322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555555"/>
                </a:solidFill>
                <a:latin typeface="Times New Roman"/>
              </a:rPr>
              <a:t>Загрузка и анализ InBody</a:t>
            </a:r>
          </a:p>
        </p:txBody>
      </p:sp>
      <p:pic>
        <p:nvPicPr>
          <p:cNvPr id="7" name="Picture 6" descr="08_statistics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58047" y="1097280"/>
            <a:ext cx="2468880" cy="43891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031327" y="5623560"/>
            <a:ext cx="3322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555555"/>
                </a:solidFill>
                <a:latin typeface="Times New Roman"/>
              </a:rPr>
              <a:t>Статистика прогресса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32720" y="626364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2000" b="0">
                <a:solidFill>
                  <a:srgbClr val="555555"/>
                </a:solidFill>
                <a:latin typeface="Times New Roman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743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1F1F"/>
                </a:solidFill>
                <a:latin typeface="Times New Roman"/>
              </a:rPr>
              <a:t>Прогноз состава тела</a:t>
            </a:r>
          </a:p>
        </p:txBody>
      </p:sp>
      <p:pic>
        <p:nvPicPr>
          <p:cNvPr id="3" name="Picture 2" descr="10_compar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63614" y="1097280"/>
            <a:ext cx="2471185" cy="43891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38047" y="5623560"/>
            <a:ext cx="3322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555555"/>
                </a:solidFill>
                <a:latin typeface="Times New Roman"/>
              </a:rPr>
              <a:t>Сравнение замеров</a:t>
            </a:r>
          </a:p>
        </p:txBody>
      </p:sp>
      <p:pic>
        <p:nvPicPr>
          <p:cNvPr id="5" name="Picture 4" descr="11_forecast_chart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0254" y="1097280"/>
            <a:ext cx="2471185" cy="43891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434687" y="5623560"/>
            <a:ext cx="3322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555555"/>
                </a:solidFill>
                <a:latin typeface="Times New Roman"/>
              </a:rPr>
              <a:t>Прогноз с доверительным интервалом</a:t>
            </a:r>
          </a:p>
        </p:txBody>
      </p:sp>
      <p:pic>
        <p:nvPicPr>
          <p:cNvPr id="7" name="Picture 6" descr="12_muscle_reco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56894" y="1097280"/>
            <a:ext cx="2471185" cy="43891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031327" y="5623560"/>
            <a:ext cx="3322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555555"/>
                </a:solidFill>
                <a:latin typeface="Times New Roman"/>
              </a:rPr>
              <a:t>Рекомендации на основе прогноза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32720" y="626364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2000" b="0">
                <a:solidFill>
                  <a:srgbClr val="555555"/>
                </a:solidFill>
                <a:latin typeface="Times New Roman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743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1F1F"/>
                </a:solidFill>
                <a:latin typeface="Times New Roman"/>
              </a:rPr>
              <a:t>Выводы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10972800" cy="5120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1800"/>
              </a:spcAft>
            </a:pPr>
            <a:r>
              <a:rPr sz="2800">
                <a:solidFill>
                  <a:srgbClr val="1F1F1F"/>
                </a:solidFill>
                <a:latin typeface="Times New Roman"/>
              </a:rPr>
              <a:t>•  Создано приложение Portal (FastAPI + Flutter)</a:t>
            </a:r>
          </a:p>
          <a:p>
            <a:pPr algn="l">
              <a:lnSpc>
                <a:spcPct val="115000"/>
              </a:lnSpc>
              <a:spcAft>
                <a:spcPts val="1800"/>
              </a:spcAft>
            </a:pPr>
            <a:r>
              <a:rPr sz="2800">
                <a:solidFill>
                  <a:srgbClr val="1F1F1F"/>
                </a:solidFill>
                <a:latin typeface="Times New Roman"/>
              </a:rPr>
              <a:t>•  Реализован прогноз состава тела (R² = 0,73)</a:t>
            </a:r>
          </a:p>
          <a:p>
            <a:pPr algn="l">
              <a:lnSpc>
                <a:spcPct val="115000"/>
              </a:lnSpc>
              <a:spcAft>
                <a:spcPts val="1800"/>
              </a:spcAft>
            </a:pPr>
            <a:r>
              <a:rPr sz="2800">
                <a:solidFill>
                  <a:srgbClr val="1F1F1F"/>
                </a:solidFill>
                <a:latin typeface="Times New Roman"/>
              </a:rPr>
              <a:t>•  Реализована автоадаптация тренировок</a:t>
            </a:r>
          </a:p>
          <a:p>
            <a:pPr algn="l">
              <a:lnSpc>
                <a:spcPct val="115000"/>
              </a:lnSpc>
              <a:spcAft>
                <a:spcPts val="1800"/>
              </a:spcAft>
            </a:pPr>
            <a:r>
              <a:rPr sz="2800">
                <a:solidFill>
                  <a:srgbClr val="1F1F1F"/>
                </a:solidFill>
                <a:latin typeface="Times New Roman"/>
              </a:rPr>
              <a:t>•  Подтверждена работоспособность системы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32720" y="626364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2000" b="0">
                <a:solidFill>
                  <a:srgbClr val="555555"/>
                </a:solidFill>
                <a:latin typeface="Times New Roman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82296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600" b="1">
                <a:solidFill>
                  <a:srgbClr val="1F1F1F"/>
                </a:solidFill>
                <a:latin typeface="Times New Roman"/>
              </a:rPr>
              <a:t>Спасибо за внимание</a:t>
            </a:r>
          </a:p>
        </p:txBody>
      </p:sp>
      <p:pic>
        <p:nvPicPr>
          <p:cNvPr id="3" name="Picture 2" descr="qr-ap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45021" y="1965960"/>
            <a:ext cx="2468809" cy="3200400"/>
          </a:xfrm>
          <a:prstGeom prst="rect">
            <a:avLst/>
          </a:prstGeom>
        </p:spPr>
      </p:pic>
      <p:pic>
        <p:nvPicPr>
          <p:cNvPr id="4" name="Picture 3" descr="qr-rusto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32109" y="2286000"/>
            <a:ext cx="2560320" cy="25603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36225" y="534924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1F1F1F"/>
                </a:solidFill>
                <a:latin typeface="Times New Roman"/>
              </a:rPr>
              <a:t>Открыть в браузере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069" y="534924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1F1F1F"/>
                </a:solidFill>
                <a:latin typeface="Times New Roman"/>
              </a:rPr>
              <a:t>Скачать в RuStore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22</TotalTime>
  <Words>590</Words>
  <Application>Microsoft Macintosh PowerPoint</Application>
  <PresentationFormat>Широкоэкранный</PresentationFormat>
  <Paragraphs>154</Paragraphs>
  <Slides>19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3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19</vt:i4>
      </vt:variant>
    </vt:vector>
  </HeadingPairs>
  <TitlesOfParts>
    <vt:vector size="23" baseType="lpstr">
      <vt:lpstr>Arial</vt:lpstr>
      <vt:lpstr>Calibri</vt:lpstr>
      <vt:lpstr>Times New Roman</vt:lpstr>
      <vt:lpstr>Office Theme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Mariya Lapova</cp:lastModifiedBy>
  <cp:revision>1</cp:revision>
  <dcterms:created xsi:type="dcterms:W3CDTF">2013-01-27T09:14:16Z</dcterms:created>
  <dcterms:modified xsi:type="dcterms:W3CDTF">2026-06-07T16:37:52Z</dcterms:modified>
  <cp:category/>
</cp:coreProperties>
</file>