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1F1F"/>
                </a:solidFill>
                <a:latin typeface="Times New Roman"/>
              </a:rPr>
              <a:t>МИНОБРНАУКИ РОССИИ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30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1F1F"/>
                </a:solidFill>
                <a:latin typeface="Times New Roman"/>
              </a:rPr>
              <a:t>федеральное государственное автономное образовательное учреждение высшего образования «Омский государственный университет им. Ф.М. Достоевского»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Кафедра компьютерной математики и программного обеспечения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7259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1F1F"/>
                </a:solidFill>
                <a:latin typeface="Times New Roman"/>
              </a:rPr>
              <a:t>РАЗРАБОТКА КРОССПЛАТФОРМЕННОГО ПРИЛОЖЕНИЯ ДЛЯ ПРОГНОЗА ПОКАЗАТЕЛЕЙ INBODY С АДАПТАЦИЕЙ ТРЕНИРОВОК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1F1F"/>
                </a:solidFill>
                <a:latin typeface="Times New Roman"/>
              </a:rPr>
              <a:t>Выпускная квалификационная работа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6052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по направлению 01.04.02 — «Прикладная математика и информатика»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5120640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Times New Roman"/>
              </a:rPr>
              <a:t>Научный руководитель: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5394960"/>
            <a:ext cx="6583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1F1F1F"/>
                </a:solidFill>
                <a:latin typeface="Times New Roman"/>
              </a:rPr>
              <a:t>Агафонов А. Л., доцент, каф. компьютерной математики и программного обеспечения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5897880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Times New Roman"/>
              </a:rPr>
              <a:t>Студентка гр. МММ-401-О-03: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153912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1F1F1F"/>
                </a:solidFill>
                <a:latin typeface="Times New Roman"/>
              </a:rPr>
              <a:t>Лапова Мария Сергеевна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Омск,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Актуальность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5394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Рост популярности фитнес-приложений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Отсутствие персонализированного прогноза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Нет адаптации плана тренировок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InBody используется без аналитики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Цель и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1F1F"/>
                </a:solidFill>
                <a:latin typeface="Times New Roman"/>
              </a:rPr>
              <a:t>Цель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1F1F"/>
                </a:solidFill>
                <a:latin typeface="Times New Roman"/>
              </a:rPr>
              <a:t>Разработка приложения Portal для прогноза состава тела и адаптации тренировочного плана.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1F1F"/>
                </a:solidFill>
                <a:latin typeface="Times New Roman"/>
              </a:rPr>
              <a:t>Задачи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Анализ предметной области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Разработка ML-модели прогноза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Создание REST API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Реализация PWA-приложения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Тестирование системы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Разделение работ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40967" y="205740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1F1F1F"/>
                </a:solidFill>
                <a:latin typeface="Times New Roman"/>
              </a:rPr>
              <a:t>Таблица 1. Разделение работ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40967" y="2514600"/>
          <a:ext cx="9509760" cy="29260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43200"/>
                <a:gridCol w="676656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Студент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Что разрабатывал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Лапова М. С.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Прогноз состава тела (InBody), доверительные интервалы, адаптация плана, синтез данных, импорт PDF InBody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Ощепков Е. С.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Генератор плана тренировок, каталог упражнений, учёт тренировок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Совместно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Концепция, архитектура, REST API, PWA-клиент, база данных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Сравнение с существующими решениями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047" y="1371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1F1F1F"/>
                </a:solidFill>
                <a:latin typeface="Times New Roman"/>
              </a:rPr>
              <a:t>Таблица 2. Сравнение с существующими решениями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38047" y="1828800"/>
          <a:ext cx="10515600" cy="44805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Приложение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Прогноз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InBody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Адаптация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Hevy, Strong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Fitbod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MacroFactor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Только вес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Частично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DDX Fitness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Замер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Portal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+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+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+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Архитектура системы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380" y="960120"/>
            <a:ext cx="9608935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Times New Roman"/>
              </a:rPr>
              <a:t>Рис. 1. Архитектура приложения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Схема базы данных</a:t>
            </a:r>
          </a:p>
        </p:txBody>
      </p:sp>
      <p:pic>
        <p:nvPicPr>
          <p:cNvPr id="3" name="Picture 2" descr="er-diagram-m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9883" y="1143000"/>
            <a:ext cx="725192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Times New Roman"/>
              </a:rPr>
              <a:t>Рис. 2. Сущности и связи подсистемы прогноза и адаптации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Основные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5394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Прогноз состава тела (вес, жир, мышцы)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Генерация плана тренировок на 4 недели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Импорт PDF-отчётов InBody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Рекомендации по нормам ВОЗ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Автоадаптация плана при изменениях профиля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ML-модель прогноза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1F1F"/>
                </a:solidFill>
                <a:latin typeface="Times New Roman"/>
              </a:rPr>
              <a:t>Прогнозируются: вес, процент жира, мышечная масса на горизонтах 1, 2, 4 недели.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Ridge Regression — линейная базовая модель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LightGBM — градиентный бустинг (основная модель)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Нейросеть (PyTorch) — альтернативная архитектура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Квантильная регрессия для доверительных интервалов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Как работает прогноз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2238743"/>
            <a:ext cx="10058400" cy="21976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Times New Roman"/>
              </a:rPr>
              <a:t>Рис. 3. Пайплайн прогноза InBody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Последовательность обработки запроса</a:t>
            </a:r>
          </a:p>
        </p:txBody>
      </p:sp>
      <p:pic>
        <p:nvPicPr>
          <p:cNvPr id="3" name="Picture 2" descr="uml-sequence-m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143000"/>
            <a:ext cx="1066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Times New Roman"/>
              </a:rPr>
              <a:t>Рис. 4. Диаграмма последовательности: запрос прогноза InBody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Доверительные интервалы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5394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Квантильная регрессия: квантили 0,1 / 0,5 / 0,9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Интервал 80%: факт попадает в 79% случаев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L(y, ŷ) = max(τ·(y−ŷ), (τ−1)·(y−ŷ))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9 бустеров: 3 метрики × 3 квантиля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Алгоритм адаптации плана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1F1F"/>
                </a:solidFill>
                <a:latin typeface="Times New Roman"/>
              </a:rPr>
              <a:t>Триггеры обновления плана: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Изменение веса более чем на 2 кг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Изменение цели тренировок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Изменение частоты тренировок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Завершение 4-недельного цикла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Сравнение ошибок по моделям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047" y="16687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1F1F1F"/>
                </a:solidFill>
                <a:latin typeface="Times New Roman"/>
              </a:rPr>
              <a:t>Таблица 3. Сравнение ошибок по моделям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38047" y="2125980"/>
          <a:ext cx="10515600" cy="37033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Модель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MAE, кг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RMSE, кг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R²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Лучше baseline на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Persistence (baseline)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0,325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0,399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−0,13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Ridge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0,168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0,210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48 %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LightGBM (основная)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0,156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0,196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0,73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52 %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Нейросеть (PyTorch)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0,156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0,196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0,73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52 %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Результаты: сравнение моделей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448" y="960120"/>
            <a:ext cx="9606798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Times New Roman"/>
              </a:rPr>
              <a:t>Рис. 5. MAE четырёх моделей на тестовой выборке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Интерфейс приложения</a:t>
            </a:r>
          </a:p>
        </p:txBody>
      </p:sp>
      <p:pic>
        <p:nvPicPr>
          <p:cNvPr id="3" name="Picture 2" descr="03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767" y="1097280"/>
            <a:ext cx="246888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804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Главный экран</a:t>
            </a:r>
          </a:p>
        </p:txBody>
      </p:sp>
      <p:pic>
        <p:nvPicPr>
          <p:cNvPr id="5" name="Picture 4" descr="09_inbody_pd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407" y="1097280"/>
            <a:ext cx="246888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43468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Загрузка и анализ InBody</a:t>
            </a:r>
          </a:p>
        </p:txBody>
      </p:sp>
      <p:pic>
        <p:nvPicPr>
          <p:cNvPr id="7" name="Picture 6" descr="08_statistic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047" y="1097280"/>
            <a:ext cx="246888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3132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Статистика прогресса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800">
                <a:solidFill>
                  <a:srgbClr val="1F1F1F"/>
                </a:solidFill>
                <a:latin typeface="Times New Roman"/>
              </a:rPr>
              <a:t>•  Создано приложение Portal (FastAPI + Flutter)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800">
                <a:solidFill>
                  <a:srgbClr val="1F1F1F"/>
                </a:solidFill>
                <a:latin typeface="Times New Roman"/>
              </a:rPr>
              <a:t>•  Реализован прогноз состава тела (R² = 0,73)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800">
                <a:solidFill>
                  <a:srgbClr val="1F1F1F"/>
                </a:solidFill>
                <a:latin typeface="Times New Roman"/>
              </a:rPr>
              <a:t>•  Реализована автоадаптация тренировок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800">
                <a:solidFill>
                  <a:srgbClr val="1F1F1F"/>
                </a:solidFill>
                <a:latin typeface="Times New Roman"/>
              </a:rPr>
              <a:t>•  Подтверждена работоспособность системы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1F1F1F"/>
                </a:solidFill>
                <a:latin typeface="Times New Roman"/>
              </a:rPr>
              <a:t>Спасибо за внимание</a:t>
            </a:r>
          </a:p>
        </p:txBody>
      </p:sp>
      <p:pic>
        <p:nvPicPr>
          <p:cNvPr id="3" name="Picture 2" descr="qr-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174" y="1965960"/>
            <a:ext cx="2539347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